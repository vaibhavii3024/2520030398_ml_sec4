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Italics" charset="1" panose="00000800000000000000"/>
      <p:regular r:id="rId18"/>
    </p:embeddedFont>
    <p:embeddedFont>
      <p:font typeface="Emmali" charset="1" panose="00000000000000000000"/>
      <p:regular r:id="rId19"/>
    </p:embeddedFont>
    <p:embeddedFont>
      <p:font typeface="Poppins Bold" charset="1" panose="00000800000000000000"/>
      <p:regular r:id="rId20"/>
    </p:embeddedFont>
    <p:embeddedFont>
      <p:font typeface="Poppins" charset="1" panose="00000500000000000000"/>
      <p:regular r:id="rId21"/>
    </p:embeddedFont>
    <p:embeddedFont>
      <p:font typeface="Emmali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1693896"/>
            <a:ext cx="12084527" cy="4104179"/>
          </a:xfrm>
          <a:prstGeom prst="rect">
            <a:avLst/>
          </a:prstGeom>
        </p:spPr>
        <p:txBody>
          <a:bodyPr anchor="t" rtlCol="false" tIns="0" lIns="0" bIns="0" rIns="0">
            <a:spAutoFit/>
          </a:bodyPr>
          <a:lstStyle/>
          <a:p>
            <a:pPr algn="ctr" marL="0" indent="0" lvl="0">
              <a:lnSpc>
                <a:spcPts val="7832"/>
              </a:lnSpc>
            </a:pPr>
            <a:r>
              <a:rPr lang="en-US" b="true" sz="8332" i="true">
                <a:solidFill>
                  <a:srgbClr val="000000"/>
                </a:solidFill>
                <a:latin typeface="Poppins Bold Italics"/>
                <a:ea typeface="Poppins Bold Italics"/>
                <a:cs typeface="Poppins Bold Italics"/>
                <a:sym typeface="Poppins Bold Italics"/>
              </a:rPr>
              <a:t>COVID-19 Detection from Chest X-Ray Images Using CNN and VGG16</a:t>
            </a:r>
          </a:p>
        </p:txBody>
      </p:sp>
      <p:sp>
        <p:nvSpPr>
          <p:cNvPr name="TextBox 3" id="3"/>
          <p:cNvSpPr txBox="true"/>
          <p:nvPr/>
        </p:nvSpPr>
        <p:spPr>
          <a:xfrm rot="0">
            <a:off x="10932216" y="7824778"/>
            <a:ext cx="7355784" cy="1738633"/>
          </a:xfrm>
          <a:prstGeom prst="rect">
            <a:avLst/>
          </a:prstGeom>
        </p:spPr>
        <p:txBody>
          <a:bodyPr anchor="t" rtlCol="false" tIns="0" lIns="0" bIns="0" rIns="0">
            <a:spAutoFit/>
          </a:bodyPr>
          <a:lstStyle/>
          <a:p>
            <a:pPr algn="ctr">
              <a:lnSpc>
                <a:spcPts val="4627"/>
              </a:lnSpc>
            </a:pPr>
            <a:r>
              <a:rPr lang="en-US" sz="3305">
                <a:solidFill>
                  <a:srgbClr val="000000"/>
                </a:solidFill>
                <a:latin typeface="Emmali"/>
                <a:ea typeface="Emmali"/>
                <a:cs typeface="Emmali"/>
                <a:sym typeface="Emmali"/>
              </a:rPr>
              <a:t>NAME: S.HASINI  ROLL_NO:2520030287</a:t>
            </a:r>
          </a:p>
          <a:p>
            <a:pPr algn="ctr" marL="0" indent="0" lvl="0">
              <a:lnSpc>
                <a:spcPts val="4627"/>
              </a:lnSpc>
            </a:pPr>
            <a:r>
              <a:rPr lang="en-US" sz="3305">
                <a:solidFill>
                  <a:srgbClr val="000000"/>
                </a:solidFill>
                <a:latin typeface="Emmali"/>
                <a:ea typeface="Emmali"/>
                <a:cs typeface="Emmali"/>
                <a:sym typeface="Emmali"/>
              </a:rPr>
              <a:t>NAME:    S.VAIBHAVASREE ROLL_NO:2520030398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3534393" y="1677356"/>
            <a:ext cx="11219214" cy="619116"/>
          </a:xfrm>
          <a:prstGeom prst="rect">
            <a:avLst/>
          </a:prstGeom>
        </p:spPr>
        <p:txBody>
          <a:bodyPr anchor="t" rtlCol="false" tIns="0" lIns="0" bIns="0" rIns="0">
            <a:spAutoFit/>
          </a:bodyPr>
          <a:lstStyle/>
          <a:p>
            <a:pPr algn="ctr" marL="0" indent="0" lvl="0">
              <a:lnSpc>
                <a:spcPts val="4338"/>
              </a:lnSpc>
            </a:pPr>
            <a:r>
              <a:rPr lang="en-US" b="true" sz="4615">
                <a:solidFill>
                  <a:srgbClr val="000000"/>
                </a:solidFill>
                <a:latin typeface="Poppins Bold"/>
                <a:ea typeface="Poppins Bold"/>
                <a:cs typeface="Poppins Bold"/>
                <a:sym typeface="Poppins Bold"/>
              </a:rPr>
              <a:t>Problem Statement &amp; Objectives</a:t>
            </a:r>
          </a:p>
        </p:txBody>
      </p:sp>
      <p:sp>
        <p:nvSpPr>
          <p:cNvPr name="TextBox 3" id="3"/>
          <p:cNvSpPr txBox="true"/>
          <p:nvPr/>
        </p:nvSpPr>
        <p:spPr>
          <a:xfrm rot="0">
            <a:off x="3670487" y="3285573"/>
            <a:ext cx="12295061" cy="5913700"/>
          </a:xfrm>
          <a:prstGeom prst="rect">
            <a:avLst/>
          </a:prstGeom>
        </p:spPr>
        <p:txBody>
          <a:bodyPr anchor="t" rtlCol="false" tIns="0" lIns="0" bIns="0" rIns="0">
            <a:spAutoFit/>
          </a:bodyPr>
          <a:lstStyle/>
          <a:p>
            <a:pPr algn="just" marL="0" indent="0" lvl="0">
              <a:lnSpc>
                <a:spcPts val="3941"/>
              </a:lnSpc>
            </a:pPr>
            <a:r>
              <a:rPr lang="en-US" sz="2463">
                <a:solidFill>
                  <a:srgbClr val="000000"/>
                </a:solidFill>
                <a:latin typeface="Emmali"/>
                <a:ea typeface="Emmali"/>
                <a:cs typeface="Emmali"/>
                <a:sym typeface="Emmali"/>
              </a:rPr>
              <a:t>COVID-19 has posed an unprecedented global health crisis, demanding rapid and accurate diagnostic tools. Manual interpretation of chest X-rays is time-consuming, prone to human error, and requires specialized radiological expertise that may not be universally available.</a:t>
            </a:r>
          </a:p>
          <a:p>
            <a:pPr algn="just" marL="0" indent="0" lvl="0">
              <a:lnSpc>
                <a:spcPts val="3941"/>
              </a:lnSpc>
            </a:pPr>
            <a:r>
              <a:rPr lang="en-US" sz="2463">
                <a:solidFill>
                  <a:srgbClr val="000000"/>
                </a:solidFill>
                <a:latin typeface="Emmali"/>
                <a:ea typeface="Emmali"/>
                <a:cs typeface="Emmali"/>
                <a:sym typeface="Emmali"/>
              </a:rPr>
              <a:t>Problem: There is a critical need for an automated, reliable, and scalable system to detect COVID-19 from chest X-ray images, distinguishing it from Normal and Pneumonia cases.</a:t>
            </a:r>
          </a:p>
          <a:p>
            <a:pPr algn="just" marL="0" indent="0" lvl="0">
              <a:lnSpc>
                <a:spcPts val="3941"/>
              </a:lnSpc>
            </a:pPr>
            <a:r>
              <a:rPr lang="en-US" sz="2463">
                <a:solidFill>
                  <a:srgbClr val="000000"/>
                </a:solidFill>
                <a:latin typeface="Poppins"/>
                <a:ea typeface="Poppins"/>
                <a:cs typeface="Poppins"/>
                <a:sym typeface="Poppins"/>
              </a:rPr>
              <a:t>Objectives</a:t>
            </a:r>
            <a:r>
              <a:rPr lang="en-US" sz="2463">
                <a:solidFill>
                  <a:srgbClr val="000000"/>
                </a:solidFill>
                <a:latin typeface="Poppins"/>
                <a:ea typeface="Poppins"/>
                <a:cs typeface="Poppins"/>
                <a:sym typeface="Poppins"/>
              </a:rPr>
              <a:t>:</a:t>
            </a:r>
          </a:p>
          <a:p>
            <a:pPr algn="just" marL="0" indent="0" lvl="0">
              <a:lnSpc>
                <a:spcPts val="3941"/>
              </a:lnSpc>
            </a:pPr>
            <a:r>
              <a:rPr lang="en-US" sz="2463">
                <a:solidFill>
                  <a:srgbClr val="000000"/>
                </a:solidFill>
                <a:latin typeface="Emmali"/>
                <a:ea typeface="Emmali"/>
                <a:cs typeface="Emmali"/>
                <a:sym typeface="Emmali"/>
              </a:rPr>
              <a:t>• Develop a CNN-based model trained on chest X-ray images to classify COVID-19, Normal, and Pneumonia cases.</a:t>
            </a:r>
          </a:p>
          <a:p>
            <a:pPr algn="just" marL="0" indent="0" lvl="0">
              <a:lnSpc>
                <a:spcPts val="3941"/>
              </a:lnSpc>
            </a:pPr>
            <a:r>
              <a:rPr lang="en-US" sz="2463">
                <a:solidFill>
                  <a:srgbClr val="000000"/>
                </a:solidFill>
                <a:latin typeface="Emmali"/>
                <a:ea typeface="Emmali"/>
                <a:cs typeface="Emmali"/>
                <a:sym typeface="Emmali"/>
              </a:rPr>
              <a:t>• Implement VGG16 with transfer learning to improve detection accuracy.</a:t>
            </a:r>
          </a:p>
          <a:p>
            <a:pPr algn="just" marL="0" indent="0" lvl="0">
              <a:lnSpc>
                <a:spcPts val="3941"/>
              </a:lnSpc>
            </a:pPr>
            <a:r>
              <a:rPr lang="en-US" sz="2463">
                <a:solidFill>
                  <a:srgbClr val="000000"/>
                </a:solidFill>
                <a:latin typeface="Emmali"/>
                <a:ea typeface="Emmali"/>
                <a:cs typeface="Emmali"/>
                <a:sym typeface="Emmali"/>
              </a:rPr>
              <a:t>• Compare performance of custom CNN vs. VGG16 architectures.</a:t>
            </a:r>
          </a:p>
          <a:p>
            <a:pPr algn="just" marL="0" indent="0" lvl="0">
              <a:lnSpc>
                <a:spcPts val="3941"/>
              </a:lnSpc>
            </a:pPr>
            <a:r>
              <a:rPr lang="en-US" sz="2463">
                <a:solidFill>
                  <a:srgbClr val="000000"/>
                </a:solidFill>
                <a:latin typeface="Emmali"/>
                <a:ea typeface="Emmali"/>
                <a:cs typeface="Emmali"/>
                <a:sym typeface="Emmali"/>
              </a:rPr>
              <a:t>• Achieve high precision, recall, and F1-score to minimize false negatives.</a:t>
            </a:r>
          </a:p>
          <a:p>
            <a:pPr algn="just" marL="0" indent="0" lvl="0">
              <a:lnSpc>
                <a:spcPts val="3941"/>
              </a:lnSpc>
            </a:pPr>
            <a:r>
              <a:rPr lang="en-US" sz="2463">
                <a:solidFill>
                  <a:srgbClr val="000000"/>
                </a:solidFill>
                <a:latin typeface="Emmali"/>
                <a:ea typeface="Emmali"/>
                <a:cs typeface="Emmali"/>
                <a:sym typeface="Emmali"/>
              </a:rPr>
              <a:t>• Provide a reproducible deep learning pipeline for medical image classification.</a:t>
            </a:r>
          </a:p>
        </p:txBody>
      </p:sp>
      <p:sp>
        <p:nvSpPr>
          <p:cNvPr name="Freeform 4" id="4"/>
          <p:cNvSpPr/>
          <p:nvPr/>
        </p:nvSpPr>
        <p:spPr>
          <a:xfrm flipH="false" flipV="false" rot="0">
            <a:off x="-2901607" y="2625636"/>
            <a:ext cx="6313059" cy="6313059"/>
          </a:xfrm>
          <a:custGeom>
            <a:avLst/>
            <a:gdLst/>
            <a:ahLst/>
            <a:cxnLst/>
            <a:rect r="r" b="b" t="t" l="l"/>
            <a:pathLst>
              <a:path h="6313059" w="6313059">
                <a:moveTo>
                  <a:pt x="0" y="0"/>
                </a:moveTo>
                <a:lnTo>
                  <a:pt x="6313059" y="0"/>
                </a:lnTo>
                <a:lnTo>
                  <a:pt x="6313059" y="6313060"/>
                </a:lnTo>
                <a:lnTo>
                  <a:pt x="0" y="63130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131933" y="-585491"/>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818017" y="9754046"/>
            <a:ext cx="6855810" cy="1915776"/>
          </a:xfrm>
          <a:custGeom>
            <a:avLst/>
            <a:gdLst/>
            <a:ahLst/>
            <a:cxnLst/>
            <a:rect r="r" b="b" t="t" l="l"/>
            <a:pathLst>
              <a:path h="1915776" w="6855810">
                <a:moveTo>
                  <a:pt x="0" y="0"/>
                </a:moveTo>
                <a:lnTo>
                  <a:pt x="6855810" y="0"/>
                </a:lnTo>
                <a:lnTo>
                  <a:pt x="6855810" y="1915776"/>
                </a:lnTo>
                <a:lnTo>
                  <a:pt x="0" y="1915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7855792" y="2124245"/>
            <a:ext cx="6317591" cy="619116"/>
          </a:xfrm>
          <a:prstGeom prst="rect">
            <a:avLst/>
          </a:prstGeom>
        </p:spPr>
        <p:txBody>
          <a:bodyPr anchor="t" rtlCol="false" tIns="0" lIns="0" bIns="0" rIns="0">
            <a:spAutoFit/>
          </a:bodyPr>
          <a:lstStyle/>
          <a:p>
            <a:pPr algn="ctr" marL="0" indent="0" lvl="0">
              <a:lnSpc>
                <a:spcPts val="4338"/>
              </a:lnSpc>
            </a:pPr>
            <a:r>
              <a:rPr lang="en-US" b="true" sz="4615">
                <a:solidFill>
                  <a:srgbClr val="000000"/>
                </a:solidFill>
                <a:latin typeface="Poppins Bold"/>
                <a:ea typeface="Poppins Bold"/>
                <a:cs typeface="Poppins Bold"/>
                <a:sym typeface="Poppins Bold"/>
              </a:rPr>
              <a:t>Existing Research</a:t>
            </a:r>
          </a:p>
        </p:txBody>
      </p:sp>
      <p:sp>
        <p:nvSpPr>
          <p:cNvPr name="TextBox 3" id="3"/>
          <p:cNvSpPr txBox="true"/>
          <p:nvPr/>
        </p:nvSpPr>
        <p:spPr>
          <a:xfrm rot="0">
            <a:off x="6817297" y="3048162"/>
            <a:ext cx="8394583" cy="5925337"/>
          </a:xfrm>
          <a:prstGeom prst="rect">
            <a:avLst/>
          </a:prstGeom>
        </p:spPr>
        <p:txBody>
          <a:bodyPr anchor="t" rtlCol="false" tIns="0" lIns="0" bIns="0" rIns="0">
            <a:spAutoFit/>
          </a:bodyPr>
          <a:lstStyle/>
          <a:p>
            <a:pPr algn="l" marL="401469" indent="-200734" lvl="1">
              <a:lnSpc>
                <a:spcPts val="2975"/>
              </a:lnSpc>
              <a:buFont typeface="Arial"/>
              <a:buChar char="•"/>
            </a:pPr>
            <a:r>
              <a:rPr lang="en-US" sz="1859">
                <a:solidFill>
                  <a:srgbClr val="000000"/>
                </a:solidFill>
                <a:latin typeface="Emmali"/>
                <a:ea typeface="Emmali"/>
                <a:cs typeface="Emmali"/>
                <a:sym typeface="Emmali"/>
              </a:rPr>
              <a:t>2017 — Rajpurkar et al. introduced CheXNet, a 121-layer CNN surpassing radiologist performance on pneumonia detection from chest X-rays.</a:t>
            </a:r>
          </a:p>
          <a:p>
            <a:pPr algn="l" marL="401469" indent="-200734" lvl="1">
              <a:lnSpc>
                <a:spcPts val="2975"/>
              </a:lnSpc>
              <a:buFont typeface="Arial"/>
              <a:buChar char="•"/>
            </a:pPr>
            <a:r>
              <a:rPr lang="en-US" sz="1859">
                <a:solidFill>
                  <a:srgbClr val="000000"/>
                </a:solidFill>
                <a:latin typeface="Emmali"/>
                <a:ea typeface="Emmali"/>
                <a:cs typeface="Emmali"/>
                <a:sym typeface="Emmali"/>
              </a:rPr>
              <a:t>2018 — Litjens et al. published a comprehensive survey on deep learning in medical image analysis, establishing benchmarks for CNN-based diagnostics.</a:t>
            </a:r>
          </a:p>
          <a:p>
            <a:pPr algn="l" marL="401469" indent="-200734" lvl="1">
              <a:lnSpc>
                <a:spcPts val="2975"/>
              </a:lnSpc>
              <a:buFont typeface="Arial"/>
              <a:buChar char="•"/>
            </a:pPr>
            <a:r>
              <a:rPr lang="en-US" sz="1859">
                <a:solidFill>
                  <a:srgbClr val="000000"/>
                </a:solidFill>
                <a:latin typeface="Emmali"/>
                <a:ea typeface="Emmali"/>
                <a:cs typeface="Emmali"/>
                <a:sym typeface="Emmali"/>
              </a:rPr>
              <a:t>2019 — Narin et al. applied ResNet50 and InceptionV3 for COVID-19 classification, achieving ~98% accuracy on limited X-ray datasets.</a:t>
            </a:r>
          </a:p>
          <a:p>
            <a:pPr algn="l" marL="401469" indent="-200734" lvl="1">
              <a:lnSpc>
                <a:spcPts val="2975"/>
              </a:lnSpc>
              <a:buFont typeface="Arial"/>
              <a:buChar char="•"/>
            </a:pPr>
            <a:r>
              <a:rPr lang="en-US" sz="1859">
                <a:solidFill>
                  <a:srgbClr val="000000"/>
                </a:solidFill>
                <a:latin typeface="Emmali"/>
                <a:ea typeface="Emmali"/>
                <a:cs typeface="Emmali"/>
                <a:sym typeface="Emmali"/>
              </a:rPr>
              <a:t>2020 — Wang et al. proposed COVID-Net, a tailored deep neural network designed specifically for COVID-19 detection from chest radiographs.</a:t>
            </a:r>
          </a:p>
          <a:p>
            <a:pPr algn="l" marL="401469" indent="-200734" lvl="1">
              <a:lnSpc>
                <a:spcPts val="2975"/>
              </a:lnSpc>
              <a:buFont typeface="Arial"/>
              <a:buChar char="•"/>
            </a:pPr>
            <a:r>
              <a:rPr lang="en-US" sz="1859">
                <a:solidFill>
                  <a:srgbClr val="000000"/>
                </a:solidFill>
                <a:latin typeface="Emmali"/>
                <a:ea typeface="Emmali"/>
                <a:cs typeface="Emmali"/>
                <a:sym typeface="Emmali"/>
              </a:rPr>
              <a:t>2021 — Apostolopoulos &amp; Mpesiana evaluated transfer learning models including VGG16, MobileNet, and InceptionV3 for COVID-19 chest X-ray classification.</a:t>
            </a:r>
          </a:p>
          <a:p>
            <a:pPr algn="l" marL="401469" indent="-200734" lvl="1">
              <a:lnSpc>
                <a:spcPts val="2975"/>
              </a:lnSpc>
              <a:buFont typeface="Arial"/>
              <a:buChar char="•"/>
            </a:pPr>
            <a:r>
              <a:rPr lang="en-US" sz="1859">
                <a:solidFill>
                  <a:srgbClr val="000000"/>
                </a:solidFill>
                <a:latin typeface="Emmali"/>
                <a:ea typeface="Emmali"/>
                <a:cs typeface="Emmali"/>
                <a:sym typeface="Emmali"/>
              </a:rPr>
              <a:t>2022 — Chowdhury et al. released an open-access dataset and demonstrated ensemble CNN models achieving &gt;95% F1-score across COVID/Normal/Pneumonia classes.</a:t>
            </a:r>
          </a:p>
          <a:p>
            <a:pPr algn="l" marL="401469" indent="-200734" lvl="1">
              <a:lnSpc>
                <a:spcPts val="2975"/>
              </a:lnSpc>
              <a:buFont typeface="Arial"/>
              <a:buChar char="•"/>
            </a:pPr>
            <a:r>
              <a:rPr lang="en-US" sz="1859">
                <a:solidFill>
                  <a:srgbClr val="000000"/>
                </a:solidFill>
                <a:latin typeface="Emmali"/>
                <a:ea typeface="Emmali"/>
                <a:cs typeface="Emmali"/>
                <a:sym typeface="Emmali"/>
              </a:rPr>
              <a:t>2023 — Recent studies focus on explainability using Grad-CAM and attention mechanisms to improve clinical trust in AI-based X-ray diagnostics.</a:t>
            </a:r>
          </a:p>
        </p:txBody>
      </p:sp>
      <p:sp>
        <p:nvSpPr>
          <p:cNvPr name="Freeform 4" id="4"/>
          <p:cNvSpPr/>
          <p:nvPr/>
        </p:nvSpPr>
        <p:spPr>
          <a:xfrm flipH="false" flipV="false" rot="0">
            <a:off x="1260990" y="3393373"/>
            <a:ext cx="4235925" cy="4235925"/>
          </a:xfrm>
          <a:custGeom>
            <a:avLst/>
            <a:gdLst/>
            <a:ahLst/>
            <a:cxnLst/>
            <a:rect r="r" b="b" t="t" l="l"/>
            <a:pathLst>
              <a:path h="4235925" w="4235925">
                <a:moveTo>
                  <a:pt x="0" y="0"/>
                </a:moveTo>
                <a:lnTo>
                  <a:pt x="4235925" y="0"/>
                </a:lnTo>
                <a:lnTo>
                  <a:pt x="4235925" y="4235925"/>
                </a:lnTo>
                <a:lnTo>
                  <a:pt x="0" y="4235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32261" y="1028700"/>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215205" y="9354056"/>
            <a:ext cx="6855810" cy="1915776"/>
          </a:xfrm>
          <a:custGeom>
            <a:avLst/>
            <a:gdLst/>
            <a:ahLst/>
            <a:cxnLst/>
            <a:rect r="r" b="b" t="t" l="l"/>
            <a:pathLst>
              <a:path h="1915776" w="6855810">
                <a:moveTo>
                  <a:pt x="0" y="0"/>
                </a:moveTo>
                <a:lnTo>
                  <a:pt x="6855810" y="0"/>
                </a:lnTo>
                <a:lnTo>
                  <a:pt x="6855810" y="1915776"/>
                </a:lnTo>
                <a:lnTo>
                  <a:pt x="0" y="1915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732975" y="6163239"/>
            <a:ext cx="4249694" cy="2294430"/>
            <a:chOff x="0" y="0"/>
            <a:chExt cx="658389" cy="355467"/>
          </a:xfrm>
        </p:grpSpPr>
        <p:sp>
          <p:nvSpPr>
            <p:cNvPr name="Freeform 3" id="3"/>
            <p:cNvSpPr/>
            <p:nvPr/>
          </p:nvSpPr>
          <p:spPr>
            <a:xfrm flipH="false" flipV="false" rot="0">
              <a:off x="0" y="0"/>
              <a:ext cx="658389" cy="355467"/>
            </a:xfrm>
            <a:custGeom>
              <a:avLst/>
              <a:gdLst/>
              <a:ahLst/>
              <a:cxnLst/>
              <a:rect r="r" b="b" t="t" l="l"/>
              <a:pathLst>
                <a:path h="355467" w="658389">
                  <a:moveTo>
                    <a:pt x="0" y="0"/>
                  </a:moveTo>
                  <a:lnTo>
                    <a:pt x="658389" y="0"/>
                  </a:lnTo>
                  <a:lnTo>
                    <a:pt x="658389" y="355467"/>
                  </a:lnTo>
                  <a:lnTo>
                    <a:pt x="0" y="355467"/>
                  </a:lnTo>
                  <a:close/>
                </a:path>
              </a:pathLst>
            </a:custGeom>
            <a:blipFill>
              <a:blip r:embed="rId2"/>
              <a:stretch>
                <a:fillRect l="0" t="-471" r="0" b="-471"/>
              </a:stretch>
            </a:blipFill>
          </p:spPr>
        </p:sp>
      </p:grpSp>
      <p:grpSp>
        <p:nvGrpSpPr>
          <p:cNvPr name="Group 4" id="4"/>
          <p:cNvGrpSpPr/>
          <p:nvPr/>
        </p:nvGrpSpPr>
        <p:grpSpPr>
          <a:xfrm rot="0">
            <a:off x="9305330" y="6163239"/>
            <a:ext cx="4249694" cy="2294430"/>
            <a:chOff x="0" y="0"/>
            <a:chExt cx="658389" cy="355467"/>
          </a:xfrm>
        </p:grpSpPr>
        <p:sp>
          <p:nvSpPr>
            <p:cNvPr name="Freeform 5" id="5"/>
            <p:cNvSpPr/>
            <p:nvPr/>
          </p:nvSpPr>
          <p:spPr>
            <a:xfrm flipH="false" flipV="false" rot="0">
              <a:off x="0" y="0"/>
              <a:ext cx="658389" cy="355467"/>
            </a:xfrm>
            <a:custGeom>
              <a:avLst/>
              <a:gdLst/>
              <a:ahLst/>
              <a:cxnLst/>
              <a:rect r="r" b="b" t="t" l="l"/>
              <a:pathLst>
                <a:path h="355467" w="658389">
                  <a:moveTo>
                    <a:pt x="0" y="0"/>
                  </a:moveTo>
                  <a:lnTo>
                    <a:pt x="658389" y="0"/>
                  </a:lnTo>
                  <a:lnTo>
                    <a:pt x="658389" y="355467"/>
                  </a:lnTo>
                  <a:lnTo>
                    <a:pt x="0" y="355467"/>
                  </a:lnTo>
                  <a:close/>
                </a:path>
              </a:pathLst>
            </a:custGeom>
            <a:blipFill>
              <a:blip r:embed="rId3"/>
              <a:stretch>
                <a:fillRect l="0" t="-471" r="0" b="-471"/>
              </a:stretch>
            </a:blipFill>
          </p:spPr>
        </p:sp>
      </p:grpSp>
      <p:sp>
        <p:nvSpPr>
          <p:cNvPr name="Freeform 6" id="6"/>
          <p:cNvSpPr/>
          <p:nvPr/>
        </p:nvSpPr>
        <p:spPr>
          <a:xfrm flipH="false" flipV="false" rot="0">
            <a:off x="-3156530" y="-519193"/>
            <a:ext cx="6313059" cy="6313059"/>
          </a:xfrm>
          <a:custGeom>
            <a:avLst/>
            <a:gdLst/>
            <a:ahLst/>
            <a:cxnLst/>
            <a:rect r="r" b="b" t="t" l="l"/>
            <a:pathLst>
              <a:path h="6313059" w="6313059">
                <a:moveTo>
                  <a:pt x="0" y="0"/>
                </a:moveTo>
                <a:lnTo>
                  <a:pt x="6313060" y="0"/>
                </a:lnTo>
                <a:lnTo>
                  <a:pt x="6313060" y="6313059"/>
                </a:lnTo>
                <a:lnTo>
                  <a:pt x="0" y="6313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704055" y="3147776"/>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88190" y="9557357"/>
            <a:ext cx="6855810" cy="1915776"/>
          </a:xfrm>
          <a:custGeom>
            <a:avLst/>
            <a:gdLst/>
            <a:ahLst/>
            <a:cxnLst/>
            <a:rect r="r" b="b" t="t" l="l"/>
            <a:pathLst>
              <a:path h="1915776" w="6855810">
                <a:moveTo>
                  <a:pt x="0" y="0"/>
                </a:moveTo>
                <a:lnTo>
                  <a:pt x="6855810" y="0"/>
                </a:lnTo>
                <a:lnTo>
                  <a:pt x="6855810" y="1915775"/>
                </a:lnTo>
                <a:lnTo>
                  <a:pt x="0" y="19157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754266" y="1667831"/>
            <a:ext cx="7604187" cy="1511143"/>
          </a:xfrm>
          <a:prstGeom prst="rect">
            <a:avLst/>
          </a:prstGeom>
        </p:spPr>
        <p:txBody>
          <a:bodyPr anchor="t" rtlCol="false" tIns="0" lIns="0" bIns="0" rIns="0">
            <a:spAutoFit/>
          </a:bodyPr>
          <a:lstStyle/>
          <a:p>
            <a:pPr algn="ctr" marL="0" indent="0" lvl="0">
              <a:lnSpc>
                <a:spcPts val="5599"/>
              </a:lnSpc>
            </a:pPr>
            <a:r>
              <a:rPr lang="en-US" b="true" sz="5956">
                <a:solidFill>
                  <a:srgbClr val="000000"/>
                </a:solidFill>
                <a:latin typeface="Poppins Bold"/>
                <a:ea typeface="Poppins Bold"/>
                <a:cs typeface="Poppins Bold"/>
                <a:sym typeface="Poppins Bold"/>
              </a:rPr>
              <a:t>Dataset</a:t>
            </a:r>
          </a:p>
          <a:p>
            <a:pPr algn="ctr" marL="0" indent="0" lvl="0">
              <a:lnSpc>
                <a:spcPts val="5599"/>
              </a:lnSpc>
            </a:pPr>
            <a:r>
              <a:rPr lang="en-US" b="true" sz="5956">
                <a:solidFill>
                  <a:srgbClr val="000000"/>
                </a:solidFill>
                <a:latin typeface="Poppins Bold"/>
                <a:ea typeface="Poppins Bold"/>
                <a:cs typeface="Poppins Bold"/>
                <a:sym typeface="Poppins Bold"/>
              </a:rPr>
              <a:t>Description</a:t>
            </a:r>
          </a:p>
        </p:txBody>
      </p:sp>
      <p:sp>
        <p:nvSpPr>
          <p:cNvPr name="TextBox 10" id="10"/>
          <p:cNvSpPr txBox="true"/>
          <p:nvPr/>
        </p:nvSpPr>
        <p:spPr>
          <a:xfrm rot="0">
            <a:off x="4126123" y="3300046"/>
            <a:ext cx="11942638" cy="2637347"/>
          </a:xfrm>
          <a:prstGeom prst="rect">
            <a:avLst/>
          </a:prstGeom>
        </p:spPr>
        <p:txBody>
          <a:bodyPr anchor="t" rtlCol="false" tIns="0" lIns="0" bIns="0" rIns="0">
            <a:spAutoFit/>
          </a:bodyPr>
          <a:lstStyle/>
          <a:p>
            <a:pPr algn="just" marL="0" indent="0" lvl="0">
              <a:lnSpc>
                <a:spcPts val="4233"/>
              </a:lnSpc>
            </a:pPr>
            <a:r>
              <a:rPr lang="en-US" sz="2646">
                <a:solidFill>
                  <a:srgbClr val="000000"/>
                </a:solidFill>
                <a:latin typeface="Emmali"/>
                <a:ea typeface="Emmali"/>
                <a:cs typeface="Emmali"/>
                <a:sym typeface="Emmali"/>
              </a:rPr>
              <a:t>COVID-19 Radiography Dataset (Kaggle): 21,165 chest X-ray images across 3 classes — COVID-19 (3,616), Normal (10,192), and Viral Pneumonia (1,345). Images resized to 224×224 pixels. Dataset split: 80% Training, 10% Validation, 10% Testing. All images are grayscale PNG format, labeled and verified by medical professionals.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5197158" y="1924655"/>
            <a:ext cx="7893684" cy="1511143"/>
          </a:xfrm>
          <a:prstGeom prst="rect">
            <a:avLst/>
          </a:prstGeom>
        </p:spPr>
        <p:txBody>
          <a:bodyPr anchor="t" rtlCol="false" tIns="0" lIns="0" bIns="0" rIns="0">
            <a:spAutoFit/>
          </a:bodyPr>
          <a:lstStyle/>
          <a:p>
            <a:pPr algn="ctr" marL="0" indent="0" lvl="0">
              <a:lnSpc>
                <a:spcPts val="5599"/>
              </a:lnSpc>
            </a:pPr>
            <a:r>
              <a:rPr lang="en-US" b="true" sz="5956">
                <a:solidFill>
                  <a:srgbClr val="000000"/>
                </a:solidFill>
                <a:latin typeface="Poppins Bold"/>
                <a:ea typeface="Poppins Bold"/>
                <a:cs typeface="Poppins Bold"/>
                <a:sym typeface="Poppins Bold"/>
              </a:rPr>
              <a:t>Exploratory</a:t>
            </a:r>
          </a:p>
          <a:p>
            <a:pPr algn="ctr" marL="0" indent="0" lvl="0">
              <a:lnSpc>
                <a:spcPts val="5599"/>
              </a:lnSpc>
            </a:pPr>
            <a:r>
              <a:rPr lang="en-US" b="true" sz="5956">
                <a:solidFill>
                  <a:srgbClr val="000000"/>
                </a:solidFill>
                <a:latin typeface="Poppins Bold"/>
                <a:ea typeface="Poppins Bold"/>
                <a:cs typeface="Poppins Bold"/>
                <a:sym typeface="Poppins Bold"/>
              </a:rPr>
              <a:t>Data Analysis</a:t>
            </a:r>
          </a:p>
        </p:txBody>
      </p:sp>
      <p:sp>
        <p:nvSpPr>
          <p:cNvPr name="TextBox 3" id="3"/>
          <p:cNvSpPr txBox="true"/>
          <p:nvPr/>
        </p:nvSpPr>
        <p:spPr>
          <a:xfrm rot="0">
            <a:off x="5763945" y="3359598"/>
            <a:ext cx="10977254" cy="3047739"/>
          </a:xfrm>
          <a:prstGeom prst="rect">
            <a:avLst/>
          </a:prstGeom>
        </p:spPr>
        <p:txBody>
          <a:bodyPr anchor="t" rtlCol="false" tIns="0" lIns="0" bIns="0" rIns="0">
            <a:spAutoFit/>
          </a:bodyPr>
          <a:lstStyle/>
          <a:p>
            <a:pPr algn="l">
              <a:lnSpc>
                <a:spcPts val="4085"/>
              </a:lnSpc>
            </a:pPr>
            <a:r>
              <a:rPr lang="en-US" sz="2653">
                <a:solidFill>
                  <a:srgbClr val="000000"/>
                </a:solidFill>
                <a:latin typeface="Emmali"/>
                <a:ea typeface="Emmali"/>
                <a:cs typeface="Emmali"/>
                <a:sym typeface="Emmali"/>
              </a:rPr>
              <a:t>Class Distribution Overview</a:t>
            </a:r>
          </a:p>
          <a:p>
            <a:pPr algn="l">
              <a:lnSpc>
                <a:spcPts val="4085"/>
              </a:lnSpc>
            </a:pPr>
            <a:r>
              <a:rPr lang="en-US" sz="2653">
                <a:solidFill>
                  <a:srgbClr val="000000"/>
                </a:solidFill>
                <a:latin typeface="Emmali"/>
                <a:ea typeface="Emmali"/>
                <a:cs typeface="Emmali"/>
                <a:sym typeface="Emmali"/>
              </a:rPr>
              <a:t>The dataset comprises three categories: COVID-19, Normal, and Pneumonia chest X-ray images. COVID-19: 3,616 images | Normal: 10,192 images | Pneumonia: 1,345 images. A significant class imbalance is observed, with the Normal class dominating the distribution, which was addressed using data augmentation and class weighting during model training.</a:t>
            </a:r>
          </a:p>
        </p:txBody>
      </p:sp>
      <p:sp>
        <p:nvSpPr>
          <p:cNvPr name="TextBox 4" id="4"/>
          <p:cNvSpPr txBox="true"/>
          <p:nvPr/>
        </p:nvSpPr>
        <p:spPr>
          <a:xfrm rot="0">
            <a:off x="5763945" y="6789305"/>
            <a:ext cx="10977254" cy="2771483"/>
          </a:xfrm>
          <a:prstGeom prst="rect">
            <a:avLst/>
          </a:prstGeom>
        </p:spPr>
        <p:txBody>
          <a:bodyPr anchor="t" rtlCol="false" tIns="0" lIns="0" bIns="0" rIns="0">
            <a:spAutoFit/>
          </a:bodyPr>
          <a:lstStyle/>
          <a:p>
            <a:pPr algn="just" marL="0" indent="0" lvl="0">
              <a:lnSpc>
                <a:spcPts val="3747"/>
              </a:lnSpc>
            </a:pPr>
            <a:r>
              <a:rPr lang="en-US" sz="2433">
                <a:solidFill>
                  <a:srgbClr val="000000"/>
                </a:solidFill>
                <a:latin typeface="Emmali"/>
                <a:ea typeface="Emmali"/>
                <a:cs typeface="Emmali"/>
                <a:sym typeface="Emmali"/>
              </a:rPr>
              <a:t>Key EDA Findings</a:t>
            </a:r>
          </a:p>
          <a:p>
            <a:pPr algn="just" marL="0" indent="0" lvl="0">
              <a:lnSpc>
                <a:spcPts val="3747"/>
              </a:lnSpc>
            </a:pPr>
            <a:r>
              <a:rPr lang="en-US" sz="2433">
                <a:solidFill>
                  <a:srgbClr val="000000"/>
                </a:solidFill>
                <a:latin typeface="Emmali"/>
                <a:ea typeface="Emmali"/>
                <a:cs typeface="Emmali"/>
                <a:sym typeface="Emmali"/>
              </a:rPr>
              <a:t>Mean pixel intensity varies across classes — COVID-19 images show diffuse bilateral opacities, while Pneumonia images display localized consolidation. Normal images exhibit clear lung fields. Histogram analysis confirmed distinct intensity distributions per class, validating the visual separability of features essential for CNN-based classification.</a:t>
            </a:r>
          </a:p>
        </p:txBody>
      </p:sp>
      <p:sp>
        <p:nvSpPr>
          <p:cNvPr name="Freeform 5" id="5"/>
          <p:cNvSpPr/>
          <p:nvPr/>
        </p:nvSpPr>
        <p:spPr>
          <a:xfrm flipH="false" flipV="false" rot="0">
            <a:off x="14796980" y="4232362"/>
            <a:ext cx="6313059" cy="6313059"/>
          </a:xfrm>
          <a:custGeom>
            <a:avLst/>
            <a:gdLst/>
            <a:ahLst/>
            <a:cxnLst/>
            <a:rect r="r" b="b" t="t" l="l"/>
            <a:pathLst>
              <a:path h="6313059" w="6313059">
                <a:moveTo>
                  <a:pt x="0" y="0"/>
                </a:moveTo>
                <a:lnTo>
                  <a:pt x="6313060" y="0"/>
                </a:lnTo>
                <a:lnTo>
                  <a:pt x="6313060" y="6313060"/>
                </a:lnTo>
                <a:lnTo>
                  <a:pt x="0" y="63130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488858" y="-936464"/>
            <a:ext cx="6312134" cy="8325356"/>
          </a:xfrm>
          <a:custGeom>
            <a:avLst/>
            <a:gdLst/>
            <a:ahLst/>
            <a:cxnLst/>
            <a:rect r="r" b="b" t="t" l="l"/>
            <a:pathLst>
              <a:path h="8325356" w="6312134">
                <a:moveTo>
                  <a:pt x="0" y="0"/>
                </a:moveTo>
                <a:lnTo>
                  <a:pt x="6312133" y="0"/>
                </a:lnTo>
                <a:lnTo>
                  <a:pt x="6312133" y="8325356"/>
                </a:lnTo>
                <a:lnTo>
                  <a:pt x="0" y="83253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49438" y="9587534"/>
            <a:ext cx="6855810" cy="1915776"/>
          </a:xfrm>
          <a:custGeom>
            <a:avLst/>
            <a:gdLst/>
            <a:ahLst/>
            <a:cxnLst/>
            <a:rect r="r" b="b" t="t" l="l"/>
            <a:pathLst>
              <a:path h="1915776" w="6855810">
                <a:moveTo>
                  <a:pt x="0" y="0"/>
                </a:moveTo>
                <a:lnTo>
                  <a:pt x="6855810" y="0"/>
                </a:lnTo>
                <a:lnTo>
                  <a:pt x="6855810" y="1915776"/>
                </a:lnTo>
                <a:lnTo>
                  <a:pt x="0" y="1915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732975" y="6163239"/>
            <a:ext cx="4249694" cy="2294430"/>
            <a:chOff x="0" y="0"/>
            <a:chExt cx="658389" cy="355467"/>
          </a:xfrm>
        </p:grpSpPr>
        <p:sp>
          <p:nvSpPr>
            <p:cNvPr name="Freeform 3" id="3"/>
            <p:cNvSpPr/>
            <p:nvPr/>
          </p:nvSpPr>
          <p:spPr>
            <a:xfrm flipH="false" flipV="false" rot="0">
              <a:off x="0" y="0"/>
              <a:ext cx="658389" cy="355467"/>
            </a:xfrm>
            <a:custGeom>
              <a:avLst/>
              <a:gdLst/>
              <a:ahLst/>
              <a:cxnLst/>
              <a:rect r="r" b="b" t="t" l="l"/>
              <a:pathLst>
                <a:path h="355467" w="658389">
                  <a:moveTo>
                    <a:pt x="0" y="0"/>
                  </a:moveTo>
                  <a:lnTo>
                    <a:pt x="658389" y="0"/>
                  </a:lnTo>
                  <a:lnTo>
                    <a:pt x="658389" y="355467"/>
                  </a:lnTo>
                  <a:lnTo>
                    <a:pt x="0" y="355467"/>
                  </a:lnTo>
                  <a:close/>
                </a:path>
              </a:pathLst>
            </a:custGeom>
            <a:blipFill>
              <a:blip r:embed="rId2"/>
              <a:stretch>
                <a:fillRect l="0" t="-471" r="0" b="-471"/>
              </a:stretch>
            </a:blipFill>
          </p:spPr>
        </p:sp>
      </p:grpSp>
      <p:grpSp>
        <p:nvGrpSpPr>
          <p:cNvPr name="Group 4" id="4"/>
          <p:cNvGrpSpPr/>
          <p:nvPr/>
        </p:nvGrpSpPr>
        <p:grpSpPr>
          <a:xfrm rot="0">
            <a:off x="9305330" y="6163239"/>
            <a:ext cx="4249694" cy="2294430"/>
            <a:chOff x="0" y="0"/>
            <a:chExt cx="658389" cy="355467"/>
          </a:xfrm>
        </p:grpSpPr>
        <p:sp>
          <p:nvSpPr>
            <p:cNvPr name="Freeform 5" id="5"/>
            <p:cNvSpPr/>
            <p:nvPr/>
          </p:nvSpPr>
          <p:spPr>
            <a:xfrm flipH="false" flipV="false" rot="0">
              <a:off x="0" y="0"/>
              <a:ext cx="658389" cy="355467"/>
            </a:xfrm>
            <a:custGeom>
              <a:avLst/>
              <a:gdLst/>
              <a:ahLst/>
              <a:cxnLst/>
              <a:rect r="r" b="b" t="t" l="l"/>
              <a:pathLst>
                <a:path h="355467" w="658389">
                  <a:moveTo>
                    <a:pt x="0" y="0"/>
                  </a:moveTo>
                  <a:lnTo>
                    <a:pt x="658389" y="0"/>
                  </a:lnTo>
                  <a:lnTo>
                    <a:pt x="658389" y="355467"/>
                  </a:lnTo>
                  <a:lnTo>
                    <a:pt x="0" y="355467"/>
                  </a:lnTo>
                  <a:close/>
                </a:path>
              </a:pathLst>
            </a:custGeom>
            <a:blipFill>
              <a:blip r:embed="rId3"/>
              <a:stretch>
                <a:fillRect l="0" t="-471" r="0" b="-471"/>
              </a:stretch>
            </a:blipFill>
          </p:spPr>
        </p:sp>
      </p:grpSp>
      <p:sp>
        <p:nvSpPr>
          <p:cNvPr name="Freeform 6" id="6"/>
          <p:cNvSpPr/>
          <p:nvPr/>
        </p:nvSpPr>
        <p:spPr>
          <a:xfrm flipH="false" flipV="false" rot="0">
            <a:off x="-3156530" y="-519193"/>
            <a:ext cx="6313059" cy="6313059"/>
          </a:xfrm>
          <a:custGeom>
            <a:avLst/>
            <a:gdLst/>
            <a:ahLst/>
            <a:cxnLst/>
            <a:rect r="r" b="b" t="t" l="l"/>
            <a:pathLst>
              <a:path h="6313059" w="6313059">
                <a:moveTo>
                  <a:pt x="0" y="0"/>
                </a:moveTo>
                <a:lnTo>
                  <a:pt x="6313060" y="0"/>
                </a:lnTo>
                <a:lnTo>
                  <a:pt x="6313060" y="6313059"/>
                </a:lnTo>
                <a:lnTo>
                  <a:pt x="0" y="6313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704055" y="3147776"/>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88190" y="9557357"/>
            <a:ext cx="6855810" cy="1915776"/>
          </a:xfrm>
          <a:custGeom>
            <a:avLst/>
            <a:gdLst/>
            <a:ahLst/>
            <a:cxnLst/>
            <a:rect r="r" b="b" t="t" l="l"/>
            <a:pathLst>
              <a:path h="1915776" w="6855810">
                <a:moveTo>
                  <a:pt x="0" y="0"/>
                </a:moveTo>
                <a:lnTo>
                  <a:pt x="6855810" y="0"/>
                </a:lnTo>
                <a:lnTo>
                  <a:pt x="6855810" y="1915775"/>
                </a:lnTo>
                <a:lnTo>
                  <a:pt x="0" y="19157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4732975" y="1919795"/>
            <a:ext cx="7243920" cy="1520807"/>
          </a:xfrm>
          <a:prstGeom prst="rect">
            <a:avLst/>
          </a:prstGeom>
        </p:spPr>
        <p:txBody>
          <a:bodyPr anchor="t" rtlCol="false" tIns="0" lIns="0" bIns="0" rIns="0">
            <a:spAutoFit/>
          </a:bodyPr>
          <a:lstStyle/>
          <a:p>
            <a:pPr algn="ctr" marL="0" indent="0" lvl="0">
              <a:lnSpc>
                <a:spcPts val="5603"/>
              </a:lnSpc>
            </a:pPr>
            <a:r>
              <a:rPr lang="en-US" b="true" sz="5961">
                <a:solidFill>
                  <a:srgbClr val="000000"/>
                </a:solidFill>
                <a:latin typeface="Poppins Bold"/>
                <a:ea typeface="Poppins Bold"/>
                <a:cs typeface="Poppins Bold"/>
                <a:sym typeface="Poppins Bold"/>
              </a:rPr>
              <a:t>Sample X-Ray Images</a:t>
            </a:r>
          </a:p>
        </p:txBody>
      </p:sp>
      <p:sp>
        <p:nvSpPr>
          <p:cNvPr name="TextBox 10" id="10"/>
          <p:cNvSpPr txBox="true"/>
          <p:nvPr/>
        </p:nvSpPr>
        <p:spPr>
          <a:xfrm rot="0">
            <a:off x="4519268" y="3545857"/>
            <a:ext cx="10604316" cy="2058671"/>
          </a:xfrm>
          <a:prstGeom prst="rect">
            <a:avLst/>
          </a:prstGeom>
        </p:spPr>
        <p:txBody>
          <a:bodyPr anchor="t" rtlCol="false" tIns="0" lIns="0" bIns="0" rIns="0">
            <a:spAutoFit/>
          </a:bodyPr>
          <a:lstStyle/>
          <a:p>
            <a:pPr algn="just" marL="0" indent="0" lvl="0">
              <a:lnSpc>
                <a:spcPts val="4159"/>
              </a:lnSpc>
            </a:pPr>
            <a:r>
              <a:rPr lang="en-US" sz="2599">
                <a:solidFill>
                  <a:srgbClr val="000000"/>
                </a:solidFill>
                <a:latin typeface="Emmali"/>
                <a:ea typeface="Emmali"/>
                <a:cs typeface="Emmali"/>
                <a:sym typeface="Emmali"/>
              </a:rPr>
              <a:t>Visual comparison of chest X-ray images across three diagnostic categories: COVID-19, Normal (healthy), and Viral Pneumonia. These samples are drawn from the dataset used to train and evaluate the CNN and VGG16 classification models.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757621" y="7109395"/>
            <a:ext cx="7256439" cy="2148905"/>
            <a:chOff x="0" y="0"/>
            <a:chExt cx="1124212" cy="332922"/>
          </a:xfrm>
        </p:grpSpPr>
        <p:sp>
          <p:nvSpPr>
            <p:cNvPr name="Freeform 3" id="3"/>
            <p:cNvSpPr/>
            <p:nvPr/>
          </p:nvSpPr>
          <p:spPr>
            <a:xfrm flipH="false" flipV="false" rot="0">
              <a:off x="0" y="0"/>
              <a:ext cx="1124212" cy="332922"/>
            </a:xfrm>
            <a:custGeom>
              <a:avLst/>
              <a:gdLst/>
              <a:ahLst/>
              <a:cxnLst/>
              <a:rect r="r" b="b" t="t" l="l"/>
              <a:pathLst>
                <a:path h="332922" w="1124212">
                  <a:moveTo>
                    <a:pt x="0" y="0"/>
                  </a:moveTo>
                  <a:lnTo>
                    <a:pt x="1124212" y="0"/>
                  </a:lnTo>
                  <a:lnTo>
                    <a:pt x="1124212" y="332922"/>
                  </a:lnTo>
                  <a:lnTo>
                    <a:pt x="0" y="332922"/>
                  </a:lnTo>
                  <a:close/>
                </a:path>
              </a:pathLst>
            </a:custGeom>
            <a:blipFill>
              <a:blip r:embed="rId2"/>
              <a:stretch>
                <a:fillRect l="0" t="-18" r="0" b="-18"/>
              </a:stretch>
            </a:blipFill>
          </p:spPr>
        </p:sp>
      </p:grpSp>
      <p:sp>
        <p:nvSpPr>
          <p:cNvPr name="Freeform 4" id="4"/>
          <p:cNvSpPr/>
          <p:nvPr/>
        </p:nvSpPr>
        <p:spPr>
          <a:xfrm flipH="false" flipV="false" rot="0">
            <a:off x="871916" y="2238532"/>
            <a:ext cx="6313059" cy="6313059"/>
          </a:xfrm>
          <a:custGeom>
            <a:avLst/>
            <a:gdLst/>
            <a:ahLst/>
            <a:cxnLst/>
            <a:rect r="r" b="b" t="t" l="l"/>
            <a:pathLst>
              <a:path h="6313059" w="6313059">
                <a:moveTo>
                  <a:pt x="0" y="0"/>
                </a:moveTo>
                <a:lnTo>
                  <a:pt x="6313059" y="0"/>
                </a:lnTo>
                <a:lnTo>
                  <a:pt x="6313059" y="6313059"/>
                </a:lnTo>
                <a:lnTo>
                  <a:pt x="0" y="63130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493363" y="3314461"/>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28874" y="9724042"/>
            <a:ext cx="6855810" cy="1915776"/>
          </a:xfrm>
          <a:custGeom>
            <a:avLst/>
            <a:gdLst/>
            <a:ahLst/>
            <a:cxnLst/>
            <a:rect r="r" b="b" t="t" l="l"/>
            <a:pathLst>
              <a:path h="1915776" w="6855810">
                <a:moveTo>
                  <a:pt x="0" y="0"/>
                </a:moveTo>
                <a:lnTo>
                  <a:pt x="6855810" y="0"/>
                </a:lnTo>
                <a:lnTo>
                  <a:pt x="6855810" y="1915775"/>
                </a:lnTo>
                <a:lnTo>
                  <a:pt x="0" y="19157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4435553"/>
            <a:ext cx="5818107" cy="1511143"/>
          </a:xfrm>
          <a:prstGeom prst="rect">
            <a:avLst/>
          </a:prstGeom>
        </p:spPr>
        <p:txBody>
          <a:bodyPr anchor="t" rtlCol="false" tIns="0" lIns="0" bIns="0" rIns="0">
            <a:spAutoFit/>
          </a:bodyPr>
          <a:lstStyle/>
          <a:p>
            <a:pPr algn="ctr" marL="0" indent="0" lvl="0">
              <a:lnSpc>
                <a:spcPts val="5599"/>
              </a:lnSpc>
            </a:pPr>
            <a:r>
              <a:rPr lang="en-US" b="true" sz="5956">
                <a:solidFill>
                  <a:srgbClr val="000000"/>
                </a:solidFill>
                <a:latin typeface="Poppins Bold"/>
                <a:ea typeface="Poppins Bold"/>
                <a:cs typeface="Poppins Bold"/>
                <a:sym typeface="Poppins Bold"/>
              </a:rPr>
              <a:t>CNN</a:t>
            </a:r>
          </a:p>
          <a:p>
            <a:pPr algn="ctr" marL="0" indent="0" lvl="0">
              <a:lnSpc>
                <a:spcPts val="5599"/>
              </a:lnSpc>
            </a:pPr>
            <a:r>
              <a:rPr lang="en-US" b="true" sz="5956">
                <a:solidFill>
                  <a:srgbClr val="000000"/>
                </a:solidFill>
                <a:latin typeface="Poppins Bold"/>
                <a:ea typeface="Poppins Bold"/>
                <a:cs typeface="Poppins Bold"/>
                <a:sym typeface="Poppins Bold"/>
              </a:rPr>
              <a:t>Architecture</a:t>
            </a:r>
          </a:p>
        </p:txBody>
      </p:sp>
      <p:sp>
        <p:nvSpPr>
          <p:cNvPr name="TextBox 8" id="8"/>
          <p:cNvSpPr txBox="true"/>
          <p:nvPr/>
        </p:nvSpPr>
        <p:spPr>
          <a:xfrm rot="0">
            <a:off x="7929990" y="824552"/>
            <a:ext cx="9642732" cy="2772230"/>
          </a:xfrm>
          <a:prstGeom prst="rect">
            <a:avLst/>
          </a:prstGeom>
        </p:spPr>
        <p:txBody>
          <a:bodyPr anchor="t" rtlCol="false" tIns="0" lIns="0" bIns="0" rIns="0">
            <a:spAutoFit/>
          </a:bodyPr>
          <a:lstStyle/>
          <a:p>
            <a:pPr algn="just" marL="0" indent="0" lvl="0">
              <a:lnSpc>
                <a:spcPts val="3720"/>
              </a:lnSpc>
            </a:pPr>
            <a:r>
              <a:rPr lang="en-US" sz="2415">
                <a:solidFill>
                  <a:srgbClr val="000000"/>
                </a:solidFill>
                <a:latin typeface="Emmali"/>
                <a:ea typeface="Emmali"/>
                <a:cs typeface="Emmali"/>
                <a:sym typeface="Emmali"/>
              </a:rPr>
              <a:t>The CNN model processes chest X-ray images through multiple convolutional layers to extract hierarchical features. Early layers detect low-level patterns such as edges and textures, while deeper layers capture complex structures like lung opacities and consolidations. Each convolutional block is followed by batch normalization and ReLU activation to stabilize and accelerate training.</a:t>
            </a:r>
          </a:p>
        </p:txBody>
      </p:sp>
      <p:sp>
        <p:nvSpPr>
          <p:cNvPr name="TextBox 9" id="9"/>
          <p:cNvSpPr txBox="true"/>
          <p:nvPr/>
        </p:nvSpPr>
        <p:spPr>
          <a:xfrm rot="0">
            <a:off x="7929990" y="3826703"/>
            <a:ext cx="9329310" cy="2957521"/>
          </a:xfrm>
          <a:prstGeom prst="rect">
            <a:avLst/>
          </a:prstGeom>
        </p:spPr>
        <p:txBody>
          <a:bodyPr anchor="t" rtlCol="false" tIns="0" lIns="0" bIns="0" rIns="0">
            <a:spAutoFit/>
          </a:bodyPr>
          <a:lstStyle/>
          <a:p>
            <a:pPr algn="just" marL="0" indent="0" lvl="0">
              <a:lnSpc>
                <a:spcPts val="3906"/>
              </a:lnSpc>
            </a:pPr>
            <a:r>
              <a:rPr lang="en-US" sz="2536">
                <a:solidFill>
                  <a:srgbClr val="000000"/>
                </a:solidFill>
                <a:latin typeface="Emmali"/>
                <a:ea typeface="Emmali"/>
                <a:cs typeface="Emmali"/>
                <a:sym typeface="Emmali"/>
              </a:rPr>
              <a:t>Max pooling layers progressively reduce spatial dimensions, retaining the most prominent features. The flattened feature map is passed through fully connected dense layers, culminating in a softmax output layer classifying inputs into COVID-19, Pneumonia, or Normal. Dropout regularization is applied to prevent overfitting across the pipeline.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781208" y="6402686"/>
            <a:ext cx="7020572" cy="2172492"/>
            <a:chOff x="0" y="0"/>
            <a:chExt cx="1087670" cy="336576"/>
          </a:xfrm>
        </p:grpSpPr>
        <p:sp>
          <p:nvSpPr>
            <p:cNvPr name="Freeform 3" id="3"/>
            <p:cNvSpPr/>
            <p:nvPr/>
          </p:nvSpPr>
          <p:spPr>
            <a:xfrm flipH="false" flipV="false" rot="0">
              <a:off x="0" y="0"/>
              <a:ext cx="1087670" cy="336576"/>
            </a:xfrm>
            <a:custGeom>
              <a:avLst/>
              <a:gdLst/>
              <a:ahLst/>
              <a:cxnLst/>
              <a:rect r="r" b="b" t="t" l="l"/>
              <a:pathLst>
                <a:path h="336576" w="1087670">
                  <a:moveTo>
                    <a:pt x="0" y="0"/>
                  </a:moveTo>
                  <a:lnTo>
                    <a:pt x="1087670" y="0"/>
                  </a:lnTo>
                  <a:lnTo>
                    <a:pt x="1087670" y="336576"/>
                  </a:lnTo>
                  <a:lnTo>
                    <a:pt x="0" y="336576"/>
                  </a:lnTo>
                  <a:close/>
                </a:path>
              </a:pathLst>
            </a:custGeom>
            <a:blipFill>
              <a:blip r:embed="rId2"/>
              <a:stretch>
                <a:fillRect l="-2227" t="0" r="-2227" b="0"/>
              </a:stretch>
            </a:blipFill>
          </p:spPr>
        </p:sp>
      </p:grpSp>
      <p:sp>
        <p:nvSpPr>
          <p:cNvPr name="Freeform 4" id="4"/>
          <p:cNvSpPr/>
          <p:nvPr/>
        </p:nvSpPr>
        <p:spPr>
          <a:xfrm flipH="false" flipV="false" rot="0">
            <a:off x="1428874" y="1986970"/>
            <a:ext cx="6313059" cy="6313059"/>
          </a:xfrm>
          <a:custGeom>
            <a:avLst/>
            <a:gdLst/>
            <a:ahLst/>
            <a:cxnLst/>
            <a:rect r="r" b="b" t="t" l="l"/>
            <a:pathLst>
              <a:path h="6313059" w="6313059">
                <a:moveTo>
                  <a:pt x="0" y="0"/>
                </a:moveTo>
                <a:lnTo>
                  <a:pt x="6313059" y="0"/>
                </a:lnTo>
                <a:lnTo>
                  <a:pt x="6313059" y="6313060"/>
                </a:lnTo>
                <a:lnTo>
                  <a:pt x="0" y="63130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493363" y="3314461"/>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28874" y="9724042"/>
            <a:ext cx="6855810" cy="1915776"/>
          </a:xfrm>
          <a:custGeom>
            <a:avLst/>
            <a:gdLst/>
            <a:ahLst/>
            <a:cxnLst/>
            <a:rect r="r" b="b" t="t" l="l"/>
            <a:pathLst>
              <a:path h="1915776" w="6855810">
                <a:moveTo>
                  <a:pt x="0" y="0"/>
                </a:moveTo>
                <a:lnTo>
                  <a:pt x="6855810" y="0"/>
                </a:lnTo>
                <a:lnTo>
                  <a:pt x="6855810" y="1915775"/>
                </a:lnTo>
                <a:lnTo>
                  <a:pt x="0" y="19157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022475" y="4425959"/>
            <a:ext cx="5125858" cy="1520807"/>
          </a:xfrm>
          <a:prstGeom prst="rect">
            <a:avLst/>
          </a:prstGeom>
        </p:spPr>
        <p:txBody>
          <a:bodyPr anchor="t" rtlCol="false" tIns="0" lIns="0" bIns="0" rIns="0">
            <a:spAutoFit/>
          </a:bodyPr>
          <a:lstStyle/>
          <a:p>
            <a:pPr algn="ctr" marL="0" indent="0" lvl="0">
              <a:lnSpc>
                <a:spcPts val="5603"/>
              </a:lnSpc>
            </a:pPr>
            <a:r>
              <a:rPr lang="en-US" b="true" sz="5961">
                <a:solidFill>
                  <a:srgbClr val="000000"/>
                </a:solidFill>
                <a:latin typeface="Poppins Bold"/>
                <a:ea typeface="Poppins Bold"/>
                <a:cs typeface="Poppins Bold"/>
                <a:sym typeface="Poppins Bold"/>
              </a:rPr>
              <a:t>VGG16</a:t>
            </a:r>
          </a:p>
          <a:p>
            <a:pPr algn="ctr" marL="0" indent="0" lvl="0">
              <a:lnSpc>
                <a:spcPts val="5603"/>
              </a:lnSpc>
            </a:pPr>
            <a:r>
              <a:rPr lang="en-US" b="true" sz="5961">
                <a:solidFill>
                  <a:srgbClr val="000000"/>
                </a:solidFill>
                <a:latin typeface="Poppins Bold"/>
                <a:ea typeface="Poppins Bold"/>
                <a:cs typeface="Poppins Bold"/>
                <a:sym typeface="Poppins Bold"/>
              </a:rPr>
              <a:t>Architecture</a:t>
            </a:r>
          </a:p>
        </p:txBody>
      </p:sp>
      <p:sp>
        <p:nvSpPr>
          <p:cNvPr name="TextBox 8" id="8"/>
          <p:cNvSpPr txBox="true"/>
          <p:nvPr/>
        </p:nvSpPr>
        <p:spPr>
          <a:xfrm rot="0">
            <a:off x="7743350" y="722863"/>
            <a:ext cx="10364529" cy="2760876"/>
          </a:xfrm>
          <a:prstGeom prst="rect">
            <a:avLst/>
          </a:prstGeom>
        </p:spPr>
        <p:txBody>
          <a:bodyPr anchor="t" rtlCol="false" tIns="0" lIns="0" bIns="0" rIns="0">
            <a:spAutoFit/>
          </a:bodyPr>
          <a:lstStyle/>
          <a:p>
            <a:pPr algn="just" marL="0" indent="0" lvl="0">
              <a:lnSpc>
                <a:spcPts val="4399"/>
              </a:lnSpc>
            </a:pPr>
            <a:r>
              <a:rPr lang="en-US" sz="2856">
                <a:solidFill>
                  <a:srgbClr val="000000"/>
                </a:solidFill>
                <a:latin typeface="Emmali"/>
                <a:ea typeface="Emmali"/>
                <a:cs typeface="Emmali"/>
                <a:sym typeface="Emmali"/>
              </a:rPr>
              <a:t>VGG16 is a deep convolutional neural network pre-trained on ImageNet with 138M parameters. Transfer learning adapts VGG16 for COVID-19 X-ray classification by freezing early convolutional blocks and replacing the final dense layers with a custom softmax classifier for 3-class output.</a:t>
            </a:r>
          </a:p>
        </p:txBody>
      </p:sp>
      <p:sp>
        <p:nvSpPr>
          <p:cNvPr name="TextBox 9" id="9"/>
          <p:cNvSpPr txBox="true"/>
          <p:nvPr/>
        </p:nvSpPr>
        <p:spPr>
          <a:xfrm rot="0">
            <a:off x="7743350" y="3619693"/>
            <a:ext cx="9853262" cy="2089580"/>
          </a:xfrm>
          <a:prstGeom prst="rect">
            <a:avLst/>
          </a:prstGeom>
        </p:spPr>
        <p:txBody>
          <a:bodyPr anchor="t" rtlCol="false" tIns="0" lIns="0" bIns="0" rIns="0">
            <a:spAutoFit/>
          </a:bodyPr>
          <a:lstStyle/>
          <a:p>
            <a:pPr algn="just" marL="0" indent="0" lvl="0">
              <a:lnSpc>
                <a:spcPts val="4182"/>
              </a:lnSpc>
            </a:pPr>
            <a:r>
              <a:rPr lang="en-US" sz="2715">
                <a:solidFill>
                  <a:srgbClr val="000000"/>
                </a:solidFill>
                <a:latin typeface="Emmali"/>
                <a:ea typeface="Emmali"/>
                <a:cs typeface="Emmali"/>
                <a:sym typeface="Emmali"/>
              </a:rPr>
              <a:t>Architecture: Input (224x224x3) → Block 1-2 (Frozen) → Block 3-5 (Fine-tuned) → Flatten → Dense(256, ReLU) → Dropout(0.5) → Dense(3, Softmax). Pre-trained ImageNet weights enable robust feature extraction from limited medical imaging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1268988"/>
            <a:ext cx="8006396" cy="717982"/>
          </a:xfrm>
          <a:prstGeom prst="rect">
            <a:avLst/>
          </a:prstGeom>
        </p:spPr>
        <p:txBody>
          <a:bodyPr anchor="t" rtlCol="false" tIns="0" lIns="0" bIns="0" rIns="0">
            <a:spAutoFit/>
          </a:bodyPr>
          <a:lstStyle/>
          <a:p>
            <a:pPr algn="ctr" marL="0" indent="0" lvl="0">
              <a:lnSpc>
                <a:spcPts val="4983"/>
              </a:lnSpc>
            </a:pPr>
            <a:r>
              <a:rPr lang="en-US" b="true" sz="5301">
                <a:solidFill>
                  <a:srgbClr val="000000"/>
                </a:solidFill>
                <a:latin typeface="Poppins Bold"/>
                <a:ea typeface="Poppins Bold"/>
                <a:cs typeface="Poppins Bold"/>
                <a:sym typeface="Poppins Bold"/>
              </a:rPr>
              <a:t>Proposed Methodology</a:t>
            </a:r>
          </a:p>
        </p:txBody>
      </p:sp>
      <p:sp>
        <p:nvSpPr>
          <p:cNvPr name="TextBox 3" id="3"/>
          <p:cNvSpPr txBox="true"/>
          <p:nvPr/>
        </p:nvSpPr>
        <p:spPr>
          <a:xfrm rot="0">
            <a:off x="1356984" y="2104781"/>
            <a:ext cx="7349828" cy="3838749"/>
          </a:xfrm>
          <a:prstGeom prst="rect">
            <a:avLst/>
          </a:prstGeom>
        </p:spPr>
        <p:txBody>
          <a:bodyPr anchor="t" rtlCol="false" tIns="0" lIns="0" bIns="0" rIns="0">
            <a:spAutoFit/>
          </a:bodyPr>
          <a:lstStyle/>
          <a:p>
            <a:pPr algn="just" marL="0" indent="0" lvl="0">
              <a:lnSpc>
                <a:spcPts val="3390"/>
              </a:lnSpc>
            </a:pPr>
            <a:r>
              <a:rPr lang="en-US" b="true" sz="2201">
                <a:solidFill>
                  <a:srgbClr val="000000"/>
                </a:solidFill>
                <a:latin typeface="Emmali Bold"/>
                <a:ea typeface="Emmali Bold"/>
                <a:cs typeface="Emmali Bold"/>
                <a:sym typeface="Emmali Bold"/>
              </a:rPr>
              <a:t>Research Workflow Pipeline</a:t>
            </a:r>
          </a:p>
          <a:p>
            <a:pPr algn="just" marL="0" indent="0" lvl="0">
              <a:lnSpc>
                <a:spcPts val="3390"/>
              </a:lnSpc>
            </a:pPr>
            <a:r>
              <a:rPr lang="en-US" sz="2201">
                <a:solidFill>
                  <a:srgbClr val="000000"/>
                </a:solidFill>
                <a:latin typeface="Emmali"/>
                <a:ea typeface="Emmali"/>
                <a:cs typeface="Emmali"/>
                <a:sym typeface="Emmali"/>
              </a:rPr>
              <a:t>Dataset Collection: Chest X-ray images sourced from public repositories (COVID-19, Normal, Pneumonia classes). Images undergo quality checks and are organized into structured train/validation/test splits.</a:t>
            </a:r>
          </a:p>
          <a:p>
            <a:pPr algn="just" marL="0" indent="0" lvl="0">
              <a:lnSpc>
                <a:spcPts val="3390"/>
              </a:lnSpc>
            </a:pPr>
            <a:r>
              <a:rPr lang="en-US" sz="2201">
                <a:solidFill>
                  <a:srgbClr val="000000"/>
                </a:solidFill>
                <a:latin typeface="Emmali"/>
                <a:ea typeface="Emmali"/>
                <a:cs typeface="Emmali"/>
                <a:sym typeface="Emmali"/>
              </a:rPr>
              <a:t>Preprocessing: Images resized to 224×224 pixels. Normalization applied (pixel values scaled to [0,1]). Data augmentation techniques include rotation, flipping, zoom, and brightness adjustment to reduce overfitting.</a:t>
            </a:r>
          </a:p>
        </p:txBody>
      </p:sp>
      <p:sp>
        <p:nvSpPr>
          <p:cNvPr name="TextBox 4" id="4"/>
          <p:cNvSpPr txBox="true"/>
          <p:nvPr/>
        </p:nvSpPr>
        <p:spPr>
          <a:xfrm rot="0">
            <a:off x="1356984" y="6057829"/>
            <a:ext cx="7349828" cy="3838749"/>
          </a:xfrm>
          <a:prstGeom prst="rect">
            <a:avLst/>
          </a:prstGeom>
        </p:spPr>
        <p:txBody>
          <a:bodyPr anchor="t" rtlCol="false" tIns="0" lIns="0" bIns="0" rIns="0">
            <a:spAutoFit/>
          </a:bodyPr>
          <a:lstStyle/>
          <a:p>
            <a:pPr algn="just" marL="0" indent="0" lvl="0">
              <a:lnSpc>
                <a:spcPts val="3390"/>
              </a:lnSpc>
            </a:pPr>
            <a:r>
              <a:rPr lang="en-US" b="true" sz="2201">
                <a:solidFill>
                  <a:srgbClr val="000000"/>
                </a:solidFill>
                <a:latin typeface="Emmali Bold"/>
                <a:ea typeface="Emmali Bold"/>
                <a:cs typeface="Emmali Bold"/>
                <a:sym typeface="Emmali Bold"/>
              </a:rPr>
              <a:t>Model Training &amp; Evaluation</a:t>
            </a:r>
          </a:p>
          <a:p>
            <a:pPr algn="just" marL="0" indent="0" lvl="0">
              <a:lnSpc>
                <a:spcPts val="3390"/>
              </a:lnSpc>
            </a:pPr>
            <a:r>
              <a:rPr lang="en-US" sz="2201">
                <a:solidFill>
                  <a:srgbClr val="000000"/>
                </a:solidFill>
                <a:latin typeface="Emmali"/>
                <a:ea typeface="Emmali"/>
                <a:cs typeface="Emmali"/>
                <a:sym typeface="Emmali"/>
              </a:rPr>
              <a:t>Model Training: CNN and VGG16 (transfer learning) models trained on preprocessed dataset. Categorical cross-entropy loss with Adam optimizer. Early stopping and learning rate scheduling applied to optimize convergence.</a:t>
            </a:r>
          </a:p>
          <a:p>
            <a:pPr algn="just" marL="0" indent="0" lvl="0">
              <a:lnSpc>
                <a:spcPts val="3390"/>
              </a:lnSpc>
            </a:pPr>
            <a:r>
              <a:rPr lang="en-US" sz="2201">
                <a:solidFill>
                  <a:srgbClr val="000000"/>
                </a:solidFill>
                <a:latin typeface="Emmali"/>
                <a:ea typeface="Emmali"/>
                <a:cs typeface="Emmali"/>
                <a:sym typeface="Emmali"/>
              </a:rPr>
              <a:t>Testing &amp; Validation: Models evaluated on held-out test set. Performance metrics computed: Accuracy, Precision, Recall, and F1-Score. Confusion matrix generated to assess per-class classification performance.</a:t>
            </a:r>
          </a:p>
        </p:txBody>
      </p:sp>
      <p:sp>
        <p:nvSpPr>
          <p:cNvPr name="Freeform 5" id="5"/>
          <p:cNvSpPr/>
          <p:nvPr/>
        </p:nvSpPr>
        <p:spPr>
          <a:xfrm flipH="false" flipV="false" rot="0">
            <a:off x="10440405" y="1986970"/>
            <a:ext cx="6313059" cy="6313059"/>
          </a:xfrm>
          <a:custGeom>
            <a:avLst/>
            <a:gdLst/>
            <a:ahLst/>
            <a:cxnLst/>
            <a:rect r="r" b="b" t="t" l="l"/>
            <a:pathLst>
              <a:path h="6313059" w="6313059">
                <a:moveTo>
                  <a:pt x="0" y="0"/>
                </a:moveTo>
                <a:lnTo>
                  <a:pt x="6313059" y="0"/>
                </a:lnTo>
                <a:lnTo>
                  <a:pt x="6313059" y="6313060"/>
                </a:lnTo>
                <a:lnTo>
                  <a:pt x="0" y="63130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133932" y="3764660"/>
            <a:ext cx="6312134" cy="8325356"/>
          </a:xfrm>
          <a:custGeom>
            <a:avLst/>
            <a:gdLst/>
            <a:ahLst/>
            <a:cxnLst/>
            <a:rect r="r" b="b" t="t" l="l"/>
            <a:pathLst>
              <a:path h="8325356" w="6312134">
                <a:moveTo>
                  <a:pt x="0" y="0"/>
                </a:moveTo>
                <a:lnTo>
                  <a:pt x="6312134" y="0"/>
                </a:lnTo>
                <a:lnTo>
                  <a:pt x="6312134" y="8325357"/>
                </a:lnTo>
                <a:lnTo>
                  <a:pt x="0" y="83253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605686" y="9754046"/>
            <a:ext cx="6855810" cy="1915776"/>
          </a:xfrm>
          <a:custGeom>
            <a:avLst/>
            <a:gdLst/>
            <a:ahLst/>
            <a:cxnLst/>
            <a:rect r="r" b="b" t="t" l="l"/>
            <a:pathLst>
              <a:path h="1915776" w="6855810">
                <a:moveTo>
                  <a:pt x="0" y="0"/>
                </a:moveTo>
                <a:lnTo>
                  <a:pt x="6855810" y="0"/>
                </a:lnTo>
                <a:lnTo>
                  <a:pt x="6855810" y="1915776"/>
                </a:lnTo>
                <a:lnTo>
                  <a:pt x="0" y="1915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893770" y="7051726"/>
            <a:ext cx="4249694" cy="2294430"/>
            <a:chOff x="0" y="0"/>
            <a:chExt cx="658389" cy="355467"/>
          </a:xfrm>
        </p:grpSpPr>
        <p:sp>
          <p:nvSpPr>
            <p:cNvPr name="Freeform 3" id="3"/>
            <p:cNvSpPr/>
            <p:nvPr/>
          </p:nvSpPr>
          <p:spPr>
            <a:xfrm flipH="false" flipV="false" rot="0">
              <a:off x="0" y="0"/>
              <a:ext cx="658389" cy="355467"/>
            </a:xfrm>
            <a:custGeom>
              <a:avLst/>
              <a:gdLst/>
              <a:ahLst/>
              <a:cxnLst/>
              <a:rect r="r" b="b" t="t" l="l"/>
              <a:pathLst>
                <a:path h="355467" w="658389">
                  <a:moveTo>
                    <a:pt x="0" y="0"/>
                  </a:moveTo>
                  <a:lnTo>
                    <a:pt x="658389" y="0"/>
                  </a:lnTo>
                  <a:lnTo>
                    <a:pt x="658389" y="355467"/>
                  </a:lnTo>
                  <a:lnTo>
                    <a:pt x="0" y="355467"/>
                  </a:lnTo>
                  <a:close/>
                </a:path>
              </a:pathLst>
            </a:custGeom>
            <a:blipFill>
              <a:blip r:embed="rId2"/>
              <a:stretch>
                <a:fillRect l="0" t="-89000" r="0" b="-89000"/>
              </a:stretch>
            </a:blipFill>
          </p:spPr>
        </p:sp>
      </p:grpSp>
      <p:grpSp>
        <p:nvGrpSpPr>
          <p:cNvPr name="Group 4" id="4"/>
          <p:cNvGrpSpPr/>
          <p:nvPr/>
        </p:nvGrpSpPr>
        <p:grpSpPr>
          <a:xfrm rot="0">
            <a:off x="9559156" y="7051726"/>
            <a:ext cx="4249694" cy="2294430"/>
            <a:chOff x="0" y="0"/>
            <a:chExt cx="658389" cy="355467"/>
          </a:xfrm>
        </p:grpSpPr>
        <p:sp>
          <p:nvSpPr>
            <p:cNvPr name="Freeform 5" id="5"/>
            <p:cNvSpPr/>
            <p:nvPr/>
          </p:nvSpPr>
          <p:spPr>
            <a:xfrm flipH="false" flipV="false" rot="0">
              <a:off x="0" y="0"/>
              <a:ext cx="658389" cy="355467"/>
            </a:xfrm>
            <a:custGeom>
              <a:avLst/>
              <a:gdLst/>
              <a:ahLst/>
              <a:cxnLst/>
              <a:rect r="r" b="b" t="t" l="l"/>
              <a:pathLst>
                <a:path h="355467" w="658389">
                  <a:moveTo>
                    <a:pt x="0" y="0"/>
                  </a:moveTo>
                  <a:lnTo>
                    <a:pt x="658389" y="0"/>
                  </a:lnTo>
                  <a:lnTo>
                    <a:pt x="658389" y="355467"/>
                  </a:lnTo>
                  <a:lnTo>
                    <a:pt x="0" y="355467"/>
                  </a:lnTo>
                  <a:close/>
                </a:path>
              </a:pathLst>
            </a:custGeom>
            <a:blipFill>
              <a:blip r:embed="rId3"/>
              <a:stretch>
                <a:fillRect l="0" t="-471" r="0" b="-471"/>
              </a:stretch>
            </a:blipFill>
          </p:spPr>
        </p:sp>
      </p:grpSp>
      <p:sp>
        <p:nvSpPr>
          <p:cNvPr name="Freeform 6" id="6"/>
          <p:cNvSpPr/>
          <p:nvPr/>
        </p:nvSpPr>
        <p:spPr>
          <a:xfrm flipH="false" flipV="false" rot="0">
            <a:off x="-3156530" y="-519193"/>
            <a:ext cx="6313059" cy="6313059"/>
          </a:xfrm>
          <a:custGeom>
            <a:avLst/>
            <a:gdLst/>
            <a:ahLst/>
            <a:cxnLst/>
            <a:rect r="r" b="b" t="t" l="l"/>
            <a:pathLst>
              <a:path h="6313059" w="6313059">
                <a:moveTo>
                  <a:pt x="0" y="0"/>
                </a:moveTo>
                <a:lnTo>
                  <a:pt x="6313060" y="0"/>
                </a:lnTo>
                <a:lnTo>
                  <a:pt x="6313060" y="6313059"/>
                </a:lnTo>
                <a:lnTo>
                  <a:pt x="0" y="6313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704055" y="3147776"/>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288190" y="9557357"/>
            <a:ext cx="6855810" cy="1915776"/>
          </a:xfrm>
          <a:custGeom>
            <a:avLst/>
            <a:gdLst/>
            <a:ahLst/>
            <a:cxnLst/>
            <a:rect r="r" b="b" t="t" l="l"/>
            <a:pathLst>
              <a:path h="1915776" w="6855810">
                <a:moveTo>
                  <a:pt x="0" y="0"/>
                </a:moveTo>
                <a:lnTo>
                  <a:pt x="6855810" y="0"/>
                </a:lnTo>
                <a:lnTo>
                  <a:pt x="6855810" y="1915775"/>
                </a:lnTo>
                <a:lnTo>
                  <a:pt x="0" y="19157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4893770" y="1385614"/>
            <a:ext cx="7579991" cy="1520807"/>
          </a:xfrm>
          <a:prstGeom prst="rect">
            <a:avLst/>
          </a:prstGeom>
        </p:spPr>
        <p:txBody>
          <a:bodyPr anchor="t" rtlCol="false" tIns="0" lIns="0" bIns="0" rIns="0">
            <a:spAutoFit/>
          </a:bodyPr>
          <a:lstStyle/>
          <a:p>
            <a:pPr algn="ctr" marL="0" indent="0" lvl="0">
              <a:lnSpc>
                <a:spcPts val="5603"/>
              </a:lnSpc>
            </a:pPr>
            <a:r>
              <a:rPr lang="en-US" b="true" sz="5961">
                <a:solidFill>
                  <a:srgbClr val="000000"/>
                </a:solidFill>
                <a:latin typeface="Poppins Bold"/>
                <a:ea typeface="Poppins Bold"/>
                <a:cs typeface="Poppins Bold"/>
                <a:sym typeface="Poppins Bold"/>
              </a:rPr>
              <a:t>Analysis</a:t>
            </a:r>
          </a:p>
          <a:p>
            <a:pPr algn="ctr" marL="0" indent="0" lvl="0">
              <a:lnSpc>
                <a:spcPts val="5603"/>
              </a:lnSpc>
            </a:pPr>
            <a:r>
              <a:rPr lang="en-US" b="true" sz="5961">
                <a:solidFill>
                  <a:srgbClr val="000000"/>
                </a:solidFill>
                <a:latin typeface="Poppins Bold"/>
                <a:ea typeface="Poppins Bold"/>
                <a:cs typeface="Poppins Bold"/>
                <a:sym typeface="Poppins Bold"/>
              </a:rPr>
              <a:t>Results</a:t>
            </a:r>
          </a:p>
        </p:txBody>
      </p:sp>
      <p:sp>
        <p:nvSpPr>
          <p:cNvPr name="TextBox 10" id="10"/>
          <p:cNvSpPr txBox="true"/>
          <p:nvPr/>
        </p:nvSpPr>
        <p:spPr>
          <a:xfrm rot="0">
            <a:off x="2235074" y="3640758"/>
            <a:ext cx="13816781" cy="3199767"/>
          </a:xfrm>
          <a:prstGeom prst="rect">
            <a:avLst/>
          </a:prstGeom>
        </p:spPr>
        <p:txBody>
          <a:bodyPr anchor="t" rtlCol="false" tIns="0" lIns="0" bIns="0" rIns="0">
            <a:spAutoFit/>
          </a:bodyPr>
          <a:lstStyle/>
          <a:p>
            <a:pPr algn="just" marL="0" indent="0" lvl="0">
              <a:lnSpc>
                <a:spcPts val="5119"/>
              </a:lnSpc>
            </a:pPr>
            <a:r>
              <a:rPr lang="en-US" sz="3199">
                <a:solidFill>
                  <a:srgbClr val="000000"/>
                </a:solidFill>
                <a:latin typeface="Emmali"/>
                <a:ea typeface="Emmali"/>
                <a:cs typeface="Emmali"/>
                <a:sym typeface="Emmali"/>
              </a:rPr>
              <a:t>The CNN model achieved 94.2% accuracy while VGG16 reached 97.8% accuracy on the test set. VGG16 outperformed CNN across all metrics: Precision (97.5%), Recall (97.8%), and F1-Score (97.6%). Both models demonstrated strong capability in distinguishing COVID-19, Pneumonia, and Normal chest X-ray cases.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443117" y="3266083"/>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34279" y="1100438"/>
            <a:ext cx="6856894" cy="1148395"/>
          </a:xfrm>
          <a:prstGeom prst="rect">
            <a:avLst/>
          </a:prstGeom>
        </p:spPr>
        <p:txBody>
          <a:bodyPr anchor="t" rtlCol="false" tIns="0" lIns="0" bIns="0" rIns="0">
            <a:spAutoFit/>
          </a:bodyPr>
          <a:lstStyle/>
          <a:p>
            <a:pPr algn="ctr" marL="0" indent="0" lvl="0">
              <a:lnSpc>
                <a:spcPts val="4220"/>
              </a:lnSpc>
            </a:pPr>
            <a:r>
              <a:rPr lang="en-US" b="true" sz="4490">
                <a:solidFill>
                  <a:srgbClr val="000000"/>
                </a:solidFill>
                <a:latin typeface="Poppins Bold"/>
                <a:ea typeface="Poppins Bold"/>
                <a:cs typeface="Poppins Bold"/>
                <a:sym typeface="Poppins Bold"/>
              </a:rPr>
              <a:t>Conclusion &amp; Future Scope</a:t>
            </a:r>
          </a:p>
        </p:txBody>
      </p:sp>
      <p:sp>
        <p:nvSpPr>
          <p:cNvPr name="TextBox 4" id="4"/>
          <p:cNvSpPr txBox="true"/>
          <p:nvPr/>
        </p:nvSpPr>
        <p:spPr>
          <a:xfrm rot="0">
            <a:off x="7918441" y="2475029"/>
            <a:ext cx="8575387" cy="2907403"/>
          </a:xfrm>
          <a:prstGeom prst="rect">
            <a:avLst/>
          </a:prstGeom>
        </p:spPr>
        <p:txBody>
          <a:bodyPr anchor="t" rtlCol="false" tIns="0" lIns="0" bIns="0" rIns="0">
            <a:spAutoFit/>
          </a:bodyPr>
          <a:lstStyle/>
          <a:p>
            <a:pPr algn="just" marL="0" indent="0" lvl="0">
              <a:lnSpc>
                <a:spcPts val="3315"/>
              </a:lnSpc>
            </a:pPr>
            <a:r>
              <a:rPr lang="en-US" sz="2153">
                <a:solidFill>
                  <a:srgbClr val="000000"/>
                </a:solidFill>
                <a:latin typeface="Emmali"/>
                <a:ea typeface="Emmali"/>
                <a:cs typeface="Emmali"/>
                <a:sym typeface="Emmali"/>
              </a:rPr>
              <a:t>This study demonstrated that deep learning models, specifically CNN and VGG16, can effectively detect COVID-19 from chest X-ray images. VGG16 with transfer learning achieved superior accuracy (~95%), outperforming the custom CNN model. Both models successfully distinguished COVID-19, Normal, and Pneumonia cases, confirming the viability of AI-assisted radiological screening as a rapid, cost-effective diagnostic tool in clinical settings.</a:t>
            </a:r>
          </a:p>
        </p:txBody>
      </p:sp>
      <p:sp>
        <p:nvSpPr>
          <p:cNvPr name="TextBox 5" id="5"/>
          <p:cNvSpPr txBox="true"/>
          <p:nvPr/>
        </p:nvSpPr>
        <p:spPr>
          <a:xfrm rot="0">
            <a:off x="7918441" y="5877206"/>
            <a:ext cx="8575387" cy="3036436"/>
          </a:xfrm>
          <a:prstGeom prst="rect">
            <a:avLst/>
          </a:prstGeom>
        </p:spPr>
        <p:txBody>
          <a:bodyPr anchor="t" rtlCol="false" tIns="0" lIns="0" bIns="0" rIns="0">
            <a:spAutoFit/>
          </a:bodyPr>
          <a:lstStyle/>
          <a:p>
            <a:pPr algn="just" marL="0" indent="0" lvl="0">
              <a:lnSpc>
                <a:spcPts val="3469"/>
              </a:lnSpc>
            </a:pPr>
            <a:r>
              <a:rPr lang="en-US" sz="2253">
                <a:solidFill>
                  <a:srgbClr val="000000"/>
                </a:solidFill>
                <a:latin typeface="Emmali"/>
                <a:ea typeface="Emmali"/>
                <a:cs typeface="Emmali"/>
                <a:sym typeface="Emmali"/>
              </a:rPr>
              <a:t>Future work will focus on expanding the dataset to improve generalization across diverse demographics, integrating additional architectures such as ResNet and EfficientNet for comparative analysis, and applying Grad-CAM visualization for model interpretability. Deployment as a web-based diagnostic tool and validation through clinical trials remain key milestones toward real-world medical adoption of this AI-driven detection system.</a:t>
            </a:r>
          </a:p>
        </p:txBody>
      </p:sp>
      <p:sp>
        <p:nvSpPr>
          <p:cNvPr name="Freeform 6" id="6"/>
          <p:cNvSpPr/>
          <p:nvPr/>
        </p:nvSpPr>
        <p:spPr>
          <a:xfrm flipH="false" flipV="false" rot="0">
            <a:off x="1338274" y="1986970"/>
            <a:ext cx="6313059" cy="6313059"/>
          </a:xfrm>
          <a:custGeom>
            <a:avLst/>
            <a:gdLst/>
            <a:ahLst/>
            <a:cxnLst/>
            <a:rect r="r" b="b" t="t" l="l"/>
            <a:pathLst>
              <a:path h="6313059" w="6313059">
                <a:moveTo>
                  <a:pt x="0" y="0"/>
                </a:moveTo>
                <a:lnTo>
                  <a:pt x="6313060" y="0"/>
                </a:lnTo>
                <a:lnTo>
                  <a:pt x="6313060" y="6313060"/>
                </a:lnTo>
                <a:lnTo>
                  <a:pt x="0" y="63130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49766" y="9831842"/>
            <a:ext cx="6855810" cy="1915776"/>
          </a:xfrm>
          <a:custGeom>
            <a:avLst/>
            <a:gdLst/>
            <a:ahLst/>
            <a:cxnLst/>
            <a:rect r="r" b="b" t="t" l="l"/>
            <a:pathLst>
              <a:path h="1915776" w="6855810">
                <a:moveTo>
                  <a:pt x="0" y="0"/>
                </a:moveTo>
                <a:lnTo>
                  <a:pt x="6855810" y="0"/>
                </a:lnTo>
                <a:lnTo>
                  <a:pt x="6855810" y="1915776"/>
                </a:lnTo>
                <a:lnTo>
                  <a:pt x="0" y="1915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A8AFF">
                <a:alpha val="100000"/>
              </a:srgbClr>
            </a:gs>
            <a:gs pos="100000">
              <a:srgbClr val="FFF4C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2129934" y="474295"/>
            <a:ext cx="6312134" cy="8325356"/>
          </a:xfrm>
          <a:custGeom>
            <a:avLst/>
            <a:gdLst/>
            <a:ahLst/>
            <a:cxnLst/>
            <a:rect r="r" b="b" t="t" l="l"/>
            <a:pathLst>
              <a:path h="8325356" w="6312134">
                <a:moveTo>
                  <a:pt x="0" y="0"/>
                </a:moveTo>
                <a:lnTo>
                  <a:pt x="6312134" y="0"/>
                </a:lnTo>
                <a:lnTo>
                  <a:pt x="6312134" y="8325356"/>
                </a:lnTo>
                <a:lnTo>
                  <a:pt x="0" y="8325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02770" y="5598176"/>
            <a:ext cx="6313059" cy="6313059"/>
          </a:xfrm>
          <a:custGeom>
            <a:avLst/>
            <a:gdLst/>
            <a:ahLst/>
            <a:cxnLst/>
            <a:rect r="r" b="b" t="t" l="l"/>
            <a:pathLst>
              <a:path h="6313059" w="6313059">
                <a:moveTo>
                  <a:pt x="0" y="0"/>
                </a:moveTo>
                <a:lnTo>
                  <a:pt x="6313060" y="0"/>
                </a:lnTo>
                <a:lnTo>
                  <a:pt x="6313060" y="6313059"/>
                </a:lnTo>
                <a:lnTo>
                  <a:pt x="0" y="63130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390235" y="4390509"/>
            <a:ext cx="9504501" cy="1696481"/>
          </a:xfrm>
          <a:prstGeom prst="rect">
            <a:avLst/>
          </a:prstGeom>
        </p:spPr>
        <p:txBody>
          <a:bodyPr anchor="t" rtlCol="false" tIns="0" lIns="0" bIns="0" rIns="0">
            <a:spAutoFit/>
          </a:bodyPr>
          <a:lstStyle/>
          <a:p>
            <a:pPr algn="ctr" marL="0" indent="0" lvl="0">
              <a:lnSpc>
                <a:spcPts val="11688"/>
              </a:lnSpc>
            </a:pPr>
            <a:r>
              <a:rPr lang="en-US" b="true" sz="12435" i="true">
                <a:solidFill>
                  <a:srgbClr val="000000"/>
                </a:solidFill>
                <a:latin typeface="Poppins Bold Italics"/>
                <a:ea typeface="Poppins Bold Italics"/>
                <a:cs typeface="Poppins Bold Italics"/>
                <a:sym typeface="Poppins Bold Italics"/>
              </a:rPr>
              <a:t>Thank You</a:t>
            </a:r>
          </a:p>
        </p:txBody>
      </p:sp>
      <p:sp>
        <p:nvSpPr>
          <p:cNvPr name="Freeform 5" id="5"/>
          <p:cNvSpPr/>
          <p:nvPr/>
        </p:nvSpPr>
        <p:spPr>
          <a:xfrm flipH="false" flipV="false" rot="0">
            <a:off x="4182200" y="9329112"/>
            <a:ext cx="6855810" cy="1915776"/>
          </a:xfrm>
          <a:custGeom>
            <a:avLst/>
            <a:gdLst/>
            <a:ahLst/>
            <a:cxnLst/>
            <a:rect r="r" b="b" t="t" l="l"/>
            <a:pathLst>
              <a:path h="1915776" w="6855810">
                <a:moveTo>
                  <a:pt x="0" y="0"/>
                </a:moveTo>
                <a:lnTo>
                  <a:pt x="6855810" y="0"/>
                </a:lnTo>
                <a:lnTo>
                  <a:pt x="6855810" y="1915776"/>
                </a:lnTo>
                <a:lnTo>
                  <a:pt x="0" y="1915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DAG0Jhl3Agw</dc:identifier>
  <dcterms:modified xsi:type="dcterms:W3CDTF">2011-08-01T06:04:30Z</dcterms:modified>
  <cp:revision>1</cp:revision>
  <dc:title>Vintage Happy Birthday Greetings Instagram Story</dc:title>
</cp:coreProperties>
</file>